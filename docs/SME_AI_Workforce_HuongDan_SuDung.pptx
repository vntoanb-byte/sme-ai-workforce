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Đăng nhập bằng tài khoản quanly để bắt đầu phần của Quản lý.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swimlane cho thấy phân công: người chỉ xuất hiện ở hai điểm quyết định — duyệt quy trình và xác nhận chứng từ nghi ngờ. Mọi thứ khác do hệ thống làm.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Lưu đồ phù hợp vì đây là logic xử lý của một chức năng: có hai điểm quyết định và một vòng lặp có giới hạn.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9B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 sử dụng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thiết kế quy trình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từng bước trên dữ liệu demo · ảnh chụp màn hình thật có chú thích · lưu đồ và workflow của hệ thống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từ hệ thống chạy thật (API + worker) với dữ liệu demo `seed_demo.py` · 25/09/2026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01368"/>
            <a:ext cx="566928" cy="56692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184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 sử dụng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57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bước theo đúng một ngày làm việc: Quản lý tạo nhân viên AI → hệ thống tự chạy → Kế toán xác nhận → báo cáo → Quản trị cấu hình.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96696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– 22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471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355848"/>
            <a:ext cx="566928" cy="566928"/>
          </a:xfrm>
          <a:prstGeom prst="ellipse">
            <a:avLst/>
          </a:prstGeom>
          <a:solidFill>
            <a:srgbClr val="1B25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1729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kế: lưu đồ và workflow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611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Chỗ nào dùng lưu đồ, chỗ nào dùng workflow, sơ đồ trạng thái, sơ đồ tuần tự — kèm từng sơ đồ của hệ thống và cách đọc.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– 35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2471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910328"/>
            <a:ext cx="566928" cy="56692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7274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kết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166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 đã chạy thử trên dữ liệu demo và cách tự chạy lại.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Chuẩn bị: dữ liệu demo và tài khoản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lệnh tạo sẵn dữ liệu để trình diễn — không cần GPU, không cần Internet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32004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khoản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Mật khẩu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ở bước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Demo@12345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(tạo, duyệt, chạy nhân viên 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ketoan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Demo@12345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 toán viên (chứng từ, xác nhận, báo cáo)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–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Demo@12345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trị (người dùng, mô hình AI, hệ thống)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3375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chạy (máy có make):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657600"/>
            <a:ext cx="667512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730752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seed          # tạo dữ liệu demo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dev-api       # cửa sổ 1 — API :8080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worker        # cửa sổ 2 — chạy nền + lịch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VITE_USE_MOCK=false make dev-web   # cửa sổ 3 — giao diện :5173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demo gồm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8745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19476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AI đã duyệt: “Kế toán hoá đơn” (08:00) và “Báo cáo cuối ngày” (17:30)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9718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30449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chạy trong một tháng, mỗi lần kèm hoá đơn tổng hợp đã đọc và kiểm tra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069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4142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 đang chờ xác nhận: lệch tổng tiền, mã số thuế đọc nhầm 1↔I, thuế suất 7%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chủ mô hình dùng khi chụp: máy chủ giả tương thích OpenAI (trả hoá đơn tổng hợp), để trình diễn không phụ thuộc GPU. Máy thật dùng vLLM + Qwen3-VL-8B.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 sử dụng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ngày làm việc: Quản lý giao việc cho nhân viên AI → hệ thống tự chạy → Kế toán kiểm tra → báo cáo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 · Đăng nhập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người dùng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9714" y="3579813"/>
            <a:ext cx="1813052" cy="208185"/>
          </a:xfrm>
          <a:prstGeom prst="roundRect">
            <a:avLst>
              <a:gd name="adj" fmla="val 1756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48838" y="3428937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48838" y="34289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9714" y="3934254"/>
            <a:ext cx="1813052" cy="208185"/>
          </a:xfrm>
          <a:prstGeom prst="roundRect">
            <a:avLst>
              <a:gd name="adj" fmla="val 1756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48838" y="3783378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48838" y="37833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9714" y="4195143"/>
            <a:ext cx="1813052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48838" y="4044267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48838" y="40442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đăng nhập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quanly, ketoan hoặc admin.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Demo@12345. Lưu trên máy chủ dạng băm argon2.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giữ khi tải lại trang; hết 15 phút tự làm mới, không bị đăng xuất.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" y="608761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 </a:t>
            </a:r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hiển thị theo vai trò — tài khoản Kế toán không thấy mục Cấu hình.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2 · Bảng điều khiển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5669" y="1218629"/>
            <a:ext cx="1243838" cy="4775073"/>
          </a:xfrm>
          <a:prstGeom prst="roundRect">
            <a:avLst>
              <a:gd name="adj" fmla="val 2941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" y="1252728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" y="1252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45056" y="2026333"/>
            <a:ext cx="1349248" cy="114633"/>
          </a:xfrm>
          <a:prstGeom prst="roundRect">
            <a:avLst>
              <a:gd name="adj" fmla="val 3190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94180" y="1875457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94180" y="18754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78772" y="2026333"/>
            <a:ext cx="1343978" cy="114633"/>
          </a:xfrm>
          <a:prstGeom prst="roundRect">
            <a:avLst>
              <a:gd name="adj" fmla="val 3190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27896" y="1875457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27896" y="18754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35662" y="2026333"/>
            <a:ext cx="1343978" cy="114633"/>
          </a:xfrm>
          <a:prstGeom prst="roundRect">
            <a:avLst>
              <a:gd name="adj" fmla="val 3190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84786" y="1875457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84786" y="18754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823974" y="2634417"/>
            <a:ext cx="894009" cy="114633"/>
          </a:xfrm>
          <a:prstGeom prst="roundRect">
            <a:avLst>
              <a:gd name="adj" fmla="val 3190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73098" y="248354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73098" y="24835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76197" y="1313498"/>
            <a:ext cx="861315" cy="131763"/>
          </a:xfrm>
          <a:prstGeom prst="roundRect">
            <a:avLst>
              <a:gd name="adj" fmla="val 2775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25321" y="1252728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25321" y="1252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123444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điều hướng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đỏ ở “Chờ xác nhận” là số chứng từ đang chờ người kiểm tra.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209854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20985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208026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 đã xử lý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tháng, so với tháng trước.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75320" y="294436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292608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tiết kiệm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chứng từ đạt tự động × số phút nhập tay (cấu hình được).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75320" y="379018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37901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377190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người xác nhận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để tới thẳng hàng chờ.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75320" y="463600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753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686800" y="461772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lần chạy gần nhất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Hoàn tất hoặc Chờ xác nhận.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75320" y="54818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75320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686800" y="546354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máy chủ AI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từ các lời gọi mô hình trong 15 phút gần nhất.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3 · Danh sách nhân viên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3_employ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6877" y="1646198"/>
            <a:ext cx="983442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56001" y="1495322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56001" y="14953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734376" y="1947275"/>
            <a:ext cx="1549527" cy="208185"/>
          </a:xfrm>
          <a:prstGeom prst="roundRect">
            <a:avLst>
              <a:gd name="adj" fmla="val 1756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3500" y="179639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83500" y="17963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81617" y="2276681"/>
            <a:ext cx="810669" cy="158115"/>
          </a:xfrm>
          <a:prstGeom prst="roundRect">
            <a:avLst>
              <a:gd name="adj" fmla="val 2313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30741" y="212580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30741" y="21258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3974" y="2729944"/>
            <a:ext cx="909985" cy="110681"/>
          </a:xfrm>
          <a:prstGeom prst="roundRect">
            <a:avLst>
              <a:gd name="adj" fmla="val 33046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73098" y="2579068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73098" y="25790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nhân viên AI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hộp thoại mô tả công việc (bước 4).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và lọc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tên và trạng thái.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nhân viên AI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Tên, mô tả gốc, trạng thái hoạt động.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3941064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392277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chạy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Lịch, lần kế tiếp, lần gần nhất, số lượt chạy 30 ngày.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4 · Tạo nhân viên AI — mô tả công việc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4_wizard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30221" y="1957816"/>
            <a:ext cx="3352038" cy="208185"/>
          </a:xfrm>
          <a:prstGeom prst="roundRect">
            <a:avLst>
              <a:gd name="adj" fmla="val 1756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79345" y="180694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79345" y="1806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30221" y="2473008"/>
            <a:ext cx="3352038" cy="704929"/>
          </a:xfrm>
          <a:prstGeom prst="roundRect">
            <a:avLst>
              <a:gd name="adj" fmla="val 518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9345" y="2322132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79345" y="23221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63627" y="4018582"/>
            <a:ext cx="918632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12751" y="3867706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12751" y="38677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nhân viên AI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“Nhập hoá đơn mua vào”.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bằng tiếng Việt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như giao việc cho người: lịch (mỗi sáng 8 giờ), thư mục, tệp Excel, cần kiểm tra gì.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quy trình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chọn 1 trong 5 mẫu, điền tham số; hệ thống kiểm chứng V-1..V-5, sai thì tự sửa tối đa 3 lần.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" y="608761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 </a:t>
            </a:r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bấm các mẫu có sẵn phía dưới ô mô tả để điền nhanh.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5 · Xem lại quy trình trước khi duyệt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5_wizard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46172" y="2654181"/>
            <a:ext cx="1665478" cy="125833"/>
          </a:xfrm>
          <a:prstGeom prst="roundRect">
            <a:avLst>
              <a:gd name="adj" fmla="val 2906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95296" y="250330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95296" y="25033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05403" y="3422356"/>
            <a:ext cx="980313" cy="220043"/>
          </a:xfrm>
          <a:prstGeom prst="roundRect">
            <a:avLst>
              <a:gd name="adj" fmla="val 16622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54527" y="327148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4527" y="3271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972" y="2504631"/>
            <a:ext cx="1243838" cy="134398"/>
          </a:xfrm>
          <a:prstGeom prst="roundRect">
            <a:avLst>
              <a:gd name="adj" fmla="val 27215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36096" y="235375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36096" y="23537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47202" y="3996182"/>
            <a:ext cx="1062665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96326" y="3845306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96326" y="3845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602613" y="3996182"/>
            <a:ext cx="717447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51737" y="3845306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51737" y="3845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các bước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5 bước do hệ thống dựng — bấm vào bước để xem tham số.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không đạt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 đơn sai → chuyển người xác nhận; hoá đơn đạt → ghi Excel.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hợp lệ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qua 5 phép kiểm tra: công cụ tồn tại, không chu trình, dữ liệu khớp, lịch hợp lệ…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75320" y="3941064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392277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và kích hoạt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sau khi duyệt, lịch chạy mới được bật.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75320" y="4837176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481888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lại mô tả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quy trình chưa đúng ý.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6 · Chi tiết nhân viên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6_employe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55737" y="1764125"/>
            <a:ext cx="1638137" cy="130445"/>
          </a:xfrm>
          <a:prstGeom prst="roundRect">
            <a:avLst>
              <a:gd name="adj" fmla="val 2803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04861" y="161324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04861" y="16132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66202" y="1947275"/>
            <a:ext cx="539897" cy="229267"/>
          </a:xfrm>
          <a:prstGeom prst="roundRect">
            <a:avLst>
              <a:gd name="adj" fmla="val 1595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15326" y="179639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15326" y="17963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95558" y="1947275"/>
            <a:ext cx="653295" cy="229267"/>
          </a:xfrm>
          <a:prstGeom prst="roundRect">
            <a:avLst>
              <a:gd name="adj" fmla="val 1595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44682" y="179639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644682" y="17963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199575" y="2645616"/>
            <a:ext cx="1665478" cy="125833"/>
          </a:xfrm>
          <a:prstGeom prst="roundRect">
            <a:avLst>
              <a:gd name="adj" fmla="val 2906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48699" y="249474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48699" y="2494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62014" y="2905189"/>
            <a:ext cx="764881" cy="138351"/>
          </a:xfrm>
          <a:prstGeom prst="roundRect">
            <a:avLst>
              <a:gd name="adj" fmla="val 2643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11138" y="2754313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11138" y="27543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20756" y="1646198"/>
            <a:ext cx="737788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9880" y="1495322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9880" y="14953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123444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đã hiểu từ mô tả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“Mỗi sáng 8 giờ” → Mỗi ngày lúc 08:00 (cron 0 8 * * *).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209854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20985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208026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Lịch chạy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lịch nếu cần.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75320" y="294436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292608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Lịch sử chạy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lần chạy của nhân viên này.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75320" y="379018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37901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377190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đang áp dụng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1 — sửa sẽ tạo phiên bản mới.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75320" y="463600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753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686800" y="461772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gốc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lại để đối chiếu.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75320" y="54818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75320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686800" y="546354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ngay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chờ tới giờ. Demo: thả 4 hoá đơn vào thư mục Scan rồi bấm.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7 · Theo dõi lần chạy trực tiếp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7_run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3974" y="2036874"/>
            <a:ext cx="702624" cy="138351"/>
          </a:xfrm>
          <a:prstGeom prst="roundRect">
            <a:avLst>
              <a:gd name="adj" fmla="val 2643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73098" y="1885998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73098" y="18859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39492" y="2581135"/>
            <a:ext cx="2804977" cy="105410"/>
          </a:xfrm>
          <a:prstGeom prst="roundRect">
            <a:avLst>
              <a:gd name="adj" fmla="val 3469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8616" y="243025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8616" y="24302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23974" y="4056793"/>
            <a:ext cx="444122" cy="130445"/>
          </a:xfrm>
          <a:prstGeom prst="roundRect">
            <a:avLst>
              <a:gd name="adj" fmla="val 2803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73098" y="3905917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73098" y="39059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3974" y="4931696"/>
            <a:ext cx="508109" cy="138351"/>
          </a:xfrm>
          <a:prstGeom prst="roundRect">
            <a:avLst>
              <a:gd name="adj" fmla="val 2643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73098" y="478082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73098" y="47808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56744" y="1671892"/>
            <a:ext cx="585026" cy="147574"/>
          </a:xfrm>
          <a:prstGeom prst="roundRect">
            <a:avLst>
              <a:gd name="adj" fmla="val 24785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5868" y="1521016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5868" y="152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các bước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tích khi xong, kèm thời gian từng bước.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trực tiếp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rõ tác tử và công cụ; dòng WARN: một hoá đơn không đạt QC-02.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4 hoá đơn: 3 đạt, 1 cần xác nhận, tổng giá trị.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75320" y="3941064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392277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Tệp kết quả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Tệp Excel MỚI có dấu thời gian — không ghi đè tệp gốc. Bấm để tải.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75320" y="4837176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481888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lần chạy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XÁC NHẬN: còn chứng từ cần người kiểm tra.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411480" y="608761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 </a:t>
            </a:r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cập nhật tức thì bằng Server-Sent Events — không cần tải lại trang.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8 · Lịch sử các lần chạy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8_ru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34376" y="1619187"/>
            <a:ext cx="1813464" cy="166021"/>
          </a:xfrm>
          <a:prstGeom prst="roundRect">
            <a:avLst>
              <a:gd name="adj" fmla="val 22031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3500" y="146831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83500" y="1468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734376" y="1947275"/>
            <a:ext cx="932879" cy="195009"/>
          </a:xfrm>
          <a:prstGeom prst="roundRect">
            <a:avLst>
              <a:gd name="adj" fmla="val 18756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3500" y="179639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83500" y="17963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739646" y="2374186"/>
            <a:ext cx="6145403" cy="293830"/>
          </a:xfrm>
          <a:prstGeom prst="roundRect">
            <a:avLst>
              <a:gd name="adj" fmla="val 12448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88770" y="222331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88770" y="22233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lần chạy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nhất ở trên, của mọi nhân viên AI.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trạng thái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tất, Chờ xác nhận, Lỗi, Đã huỷ…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chạy vừa tạo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hoạt thủ công, 4 chứng từ, đang chờ xác nhận. Bấm để mở chi tiết.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9 · Danh sách chứng từ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viên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09_docu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8653" y="2097484"/>
            <a:ext cx="518897" cy="138351"/>
          </a:xfrm>
          <a:prstGeom prst="roundRect">
            <a:avLst>
              <a:gd name="adj" fmla="val 2643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7777" y="1946608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7777" y="1946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734376" y="1947275"/>
            <a:ext cx="1549527" cy="208185"/>
          </a:xfrm>
          <a:prstGeom prst="roundRect">
            <a:avLst>
              <a:gd name="adj" fmla="val 1756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3500" y="179639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83500" y="17963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4444" y="1953863"/>
            <a:ext cx="932879" cy="195009"/>
          </a:xfrm>
          <a:prstGeom prst="roundRect">
            <a:avLst>
              <a:gd name="adj" fmla="val 18756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43568" y="1802987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43568" y="180298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739646" y="2387362"/>
            <a:ext cx="6145403" cy="339947"/>
          </a:xfrm>
          <a:prstGeom prst="roundRect">
            <a:avLst>
              <a:gd name="adj" fmla="val 1075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88770" y="2236486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88770" y="22364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35099" y="1646198"/>
            <a:ext cx="855221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84223" y="1495322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84223" y="14953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xác nhận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chứng từ đang đợi bạn kiểm tra.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số hoá đơn hoặc nhà cung cấp.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trạng thái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Đạt, Chờ xác nhận, Từ chối…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75320" y="3941064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392277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tô màu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 chờ xác nhận, kèm số lỗi phát hiện.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75320" y="4837176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481888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chứng từ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ảnh/PDF lên bằng tay (bước 10).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10 · Nạp chứng từ bằng tay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viên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0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37359" y="2090896"/>
            <a:ext cx="834057" cy="138351"/>
          </a:xfrm>
          <a:prstGeom prst="roundRect">
            <a:avLst>
              <a:gd name="adj" fmla="val 2643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86483" y="194002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86483" y="1940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02644" y="2673287"/>
            <a:ext cx="2508758" cy="168656"/>
          </a:xfrm>
          <a:prstGeom prst="roundRect">
            <a:avLst>
              <a:gd name="adj" fmla="val 2168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51768" y="252241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51768" y="25224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929384" y="2496066"/>
            <a:ext cx="834468" cy="122539"/>
          </a:xfrm>
          <a:prstGeom prst="roundRect">
            <a:avLst>
              <a:gd name="adj" fmla="val 29848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78508" y="234519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78508" y="23451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hoặc chọn tệp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JPG, PNG, PDF; tối đa 20 MB mỗi tệp; nhiều tệp một lúc.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từng tệp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 tính mã SHA-256 trước; tệp đã có sẽ báo “Đã có”, không tải lại.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ngay trong danh sách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đã đọc xong, số hoá đơn và nhà cung cấp hiện ngay.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" y="608761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 </a:t>
            </a:r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 không cần nạp tay — nhân viên AI tự lấy tệp mới trong thư mục quét.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11 · Hàng chờ xác nhận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viên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1_review_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8374" y="2055320"/>
            <a:ext cx="1138428" cy="222679"/>
          </a:xfrm>
          <a:prstGeom prst="roundRect">
            <a:avLst>
              <a:gd name="adj" fmla="val 16425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" y="1904444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" y="1904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4444" y="2256917"/>
            <a:ext cx="932879" cy="195009"/>
          </a:xfrm>
          <a:prstGeom prst="roundRect">
            <a:avLst>
              <a:gd name="adj" fmla="val 18756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43568" y="210604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43568" y="21060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739646" y="2690416"/>
            <a:ext cx="6145403" cy="339947"/>
          </a:xfrm>
          <a:prstGeom prst="roundRect">
            <a:avLst>
              <a:gd name="adj" fmla="val 1075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88770" y="253954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88770" y="25395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Chờ xác nhận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hiện số chứng từ đang chờ.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là một bộ lọc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chứng từ lọc trạng thái “Chờ xác nhận” — gửi được đường dẫn cho người khác.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theo mức lỗi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 nhiều lỗi nghiêm trọng lên trước. Bấm để kiểm tra.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12 · Kiểm tra một chứng từ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viên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2_doc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55458" y="2112852"/>
            <a:ext cx="6137581" cy="484991"/>
          </a:xfrm>
          <a:prstGeom prst="roundRect">
            <a:avLst>
              <a:gd name="adj" fmla="val 7542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4582" y="1961976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04582" y="1961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13433" y="2709192"/>
            <a:ext cx="311371" cy="114633"/>
          </a:xfrm>
          <a:prstGeom prst="roundRect">
            <a:avLst>
              <a:gd name="adj" fmla="val 3190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62557" y="2558316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62557" y="25583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8840" y="2689098"/>
            <a:ext cx="790575" cy="115951"/>
          </a:xfrm>
          <a:prstGeom prst="roundRect">
            <a:avLst>
              <a:gd name="adj" fmla="val 31544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87964" y="2538222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87964" y="25382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37183" y="1619187"/>
            <a:ext cx="953137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86307" y="146831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86307" y="1468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21401" y="1619187"/>
            <a:ext cx="616649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70525" y="146831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70525" y="1468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955737" y="1619187"/>
            <a:ext cx="606602" cy="114633"/>
          </a:xfrm>
          <a:prstGeom prst="roundRect">
            <a:avLst>
              <a:gd name="adj" fmla="val 3190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04861" y="146831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804861" y="1468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123444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ghi chú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Nêu lỗi kèm phép tính: tiền hàng + thuế ≠ tổng thanh toán (QC-02, lệch 10.000 đ).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209854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20985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208026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gốc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Phóng to, thu nhỏ, xoay để đối chiếu.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75320" y="294436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292608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AI đọc được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trực tiếp; tổng được tính lại ngay bên cạnh nhưng không tự ghi đè.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75320" y="379018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37901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377190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và lưu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Ctrl+Enter. Sửa số liệu thì 8 quy tắc chạy lại trên bản đã sửa.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75320" y="463600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753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686800" y="461772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chối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 đơn giả hoặc không hợp lệ. Mọi thao tác đều ghi nhật ký trước/sau.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75320" y="54818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75320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686800" y="546354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trong hàng chờ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1/3 — lưu xong tự sang bản kế tiếp.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13 · Tự chuyển sang chứng từ kế tiếp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viên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3_after_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55458" y="2114614"/>
            <a:ext cx="6140133" cy="347853"/>
          </a:xfrm>
          <a:prstGeom prst="roundRect">
            <a:avLst>
              <a:gd name="adj" fmla="val 10515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4582" y="1963738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04582" y="19637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37183" y="1619187"/>
            <a:ext cx="953137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86307" y="146831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86307" y="1468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khác: thuế suất 7%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QC-03: chỉ chấp nhận 0%, 5%, 8%, 10%. Sửa thuế suất đúng theo ảnh gốc rồi lưu.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lần lượt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xong chứng từ cuối cùng của lần chạy, lần chạy tự chạy tiếp (bước 18).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14 · Báo cáo tổng hợp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viên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4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3974" y="2140966"/>
            <a:ext cx="874903" cy="218726"/>
          </a:xfrm>
          <a:prstGeom prst="roundRect">
            <a:avLst>
              <a:gd name="adj" fmla="val 16722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73098" y="199009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73098" y="19900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37026" y="2060591"/>
            <a:ext cx="1127887" cy="114633"/>
          </a:xfrm>
          <a:prstGeom prst="roundRect">
            <a:avLst>
              <a:gd name="adj" fmla="val 3190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86150" y="190971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86150" y="19097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96536" y="2138331"/>
            <a:ext cx="733094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660" y="198745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45660" y="19874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49465" y="2138331"/>
            <a:ext cx="794198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98589" y="198745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98589" y="19874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54204" y="2138331"/>
            <a:ext cx="746517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03328" y="198745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03328" y="19874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kỳ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ngày — đến ngày (ngày lập hoá đơn).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theo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cung cấp, tháng hoặc thuế suất.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số chứng từ, tiền hàng, tiền thuế, tổng thanh toán.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75320" y="3941064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392277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về Excel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Tệp .xlsx có định dạng số tiền.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75320" y="4837176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481888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về PDF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có dấu tiếng Việt, để in hoặc gửi.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411480" y="608761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 </a:t>
            </a:r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tính chứng từ đã xác nhận — bản đang chờ hoặc bị từ chối không vào số liệu.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15 · Quản trị — người dùng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5_settings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8374" y="3047492"/>
            <a:ext cx="1138428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" y="2896616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" y="2896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734376" y="1947275"/>
            <a:ext cx="624472" cy="229267"/>
          </a:xfrm>
          <a:prstGeom prst="roundRect">
            <a:avLst>
              <a:gd name="adj" fmla="val 1595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3500" y="179639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83500" y="17963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739646" y="2235835"/>
            <a:ext cx="6145403" cy="1201674"/>
          </a:xfrm>
          <a:prstGeom prst="roundRect">
            <a:avLst>
              <a:gd name="adj" fmla="val 3044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88770" y="208495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88770" y="20849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Cấu hình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tài khoản Quản trị nhìn thấy.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tab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· Mô hình AI · Hệ thống.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người dùng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và trạng thái. Quản trị viên không tự khoá được chính mình.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16 · Quản trị — mô hình AI, khoá API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6_settings_l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3974" y="2876201"/>
            <a:ext cx="3394202" cy="195009"/>
          </a:xfrm>
          <a:prstGeom prst="roundRect">
            <a:avLst>
              <a:gd name="adj" fmla="val 18756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73098" y="272532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73098" y="27253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3974" y="3206925"/>
            <a:ext cx="3394202" cy="208185"/>
          </a:xfrm>
          <a:prstGeom prst="roundRect">
            <a:avLst>
              <a:gd name="adj" fmla="val 1756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73098" y="305604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73098" y="30560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19176" y="3550825"/>
            <a:ext cx="699000" cy="208185"/>
          </a:xfrm>
          <a:prstGeom prst="roundRect">
            <a:avLst>
              <a:gd name="adj" fmla="val 1756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68300" y="3399949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68300" y="33999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3974" y="4006723"/>
            <a:ext cx="3394202" cy="208185"/>
          </a:xfrm>
          <a:prstGeom prst="roundRect">
            <a:avLst>
              <a:gd name="adj" fmla="val 1756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73098" y="3855847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73098" y="38558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39774" y="4379611"/>
            <a:ext cx="646954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88898" y="422873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388898" y="42287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23974" y="4379611"/>
            <a:ext cx="705259" cy="221361"/>
          </a:xfrm>
          <a:prstGeom prst="roundRect">
            <a:avLst>
              <a:gd name="adj" fmla="val 16523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73098" y="4228735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73098" y="42287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123444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cung cấp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nội bộ, Ollama, LM Studio, OpenRouter, OpenAI, Gemini hoặc tuỳ chỉnh.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75320" y="209854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20985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208026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máy chủ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OpenAI (…/v1). Địa chỉ ngoài mạng nội bộ có cảnh báo gửi dữ liệu ra ngoài.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75320" y="294436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753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292608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danh sách model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model thay vì gõ tay.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75320" y="379018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37901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377190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API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hoá khi lưu, không bao giờ hiện lại. Để trống = giữ khoá cũ.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75320" y="463600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753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686800" y="461772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kết nối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giá trị đang nhập, trước khi lưu.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75320" y="54818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75320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686800" y="5463540"/>
            <a:ext cx="31089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cấu hình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hiệu lực ngay, không khởi động lại.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17 · Quản trị — tình trạng hệ thống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7_settings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3974" y="2532959"/>
            <a:ext cx="507368" cy="130445"/>
          </a:xfrm>
          <a:prstGeom prst="roundRect">
            <a:avLst>
              <a:gd name="adj" fmla="val 2803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73098" y="2382083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73098" y="23820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3974" y="2905189"/>
            <a:ext cx="2034413" cy="505968"/>
          </a:xfrm>
          <a:prstGeom prst="roundRect">
            <a:avLst>
              <a:gd name="adj" fmla="val 722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73098" y="2754313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73098" y="27543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 độ dữ liệu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nối backend thật (không phải dữ liệu giả).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vận hành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lần chạy trong tháng, độ trễ mô hình trung bình, token đã dùng.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18 · Tự chạy tiếp sau khi xác nhận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</a:t>
            </a:r>
            <a:endParaRPr lang="en-US" sz="1200" dirty="0"/>
          </a:p>
        </p:txBody>
      </p:sp>
      <p:pic>
        <p:nvPicPr>
          <p:cNvPr id="7" name="Image 0" descr="/tmp/claude-0/-home-user-sme-ai-workforce/504e5016-5b7b-57fe-bfb9-07cbeaa94f26/scratchpad/guide/shots/s18_run_resu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89520" cy="47434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11480" y="1234440"/>
            <a:ext cx="7589520" cy="4743450"/>
          </a:xfrm>
          <a:prstGeom prst="rect">
            <a:avLst/>
          </a:prstGeom>
          <a:ln w="9525">
            <a:solidFill>
              <a:srgbClr val="D6DB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25610" y="1690997"/>
            <a:ext cx="464710" cy="131763"/>
          </a:xfrm>
          <a:prstGeom prst="roundRect">
            <a:avLst>
              <a:gd name="adj" fmla="val 27759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74734" y="1540121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74734" y="15401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3974" y="2036874"/>
            <a:ext cx="702624" cy="138351"/>
          </a:xfrm>
          <a:prstGeom prst="roundRect">
            <a:avLst>
              <a:gd name="adj" fmla="val 2643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73098" y="1885998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73098" y="18859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23974" y="4931696"/>
            <a:ext cx="508109" cy="138351"/>
          </a:xfrm>
          <a:prstGeom prst="roundRect">
            <a:avLst>
              <a:gd name="adj" fmla="val 26437"/>
            </a:avLst>
          </a:prstGeom>
          <a:ln w="25400">
            <a:solidFill>
              <a:srgbClr val="A8741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73098" y="4780820"/>
            <a:ext cx="274320" cy="274320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73098" y="47808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252728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532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12344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TẤT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Kế toán xử lý chứng từ cuối cùng, lần chạy quay lại hàng đợi và kết thúc.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75320" y="2148840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13055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chạy nhánh Đạt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đọc lại hoá đơn đã xong — chỉ ghi Excel cho chứng từ vừa được duyệt.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75320" y="3044952"/>
            <a:ext cx="292608" cy="292608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02666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Tệp Excel thứ hai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 chứng từ vừa được duyệt; tệp đầu giữ nguyên.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" y="608761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 </a:t>
            </a:r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bên phải ghi rõ: “Nguyễn Thị Hoa đã xác nhận xong — chạy tiếp các bước còn lại”.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kế: lưu đồ và workflow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loại sơ đồ trả lời một câu hỏi khác nhau — chọn đúng loại cho đúng chỗ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nào dùng loại sơ đồ nào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loại sơ đồ trong hệ thống — mỗi loại trả lời một câu hỏi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84448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A874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55448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đồ (flowchart)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94560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lời: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diễn ra thế nào? Có điều kiện Có/Không, vòng lặp, thử lại.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7180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dự án: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dịch mô tả · thực thi một lần chạy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1371600"/>
            <a:ext cx="3584448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1572768"/>
            <a:ext cx="420624" cy="420624"/>
          </a:xfrm>
          <a:prstGeom prst="ellipse">
            <a:avLst/>
          </a:prstGeom>
          <a:solidFill>
            <a:srgbClr val="1B25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62272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155448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nghiệp vụ (swimlane)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2194560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lời: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làm gì, theo thứ tự nào, trao tay giữa các vai trò ra sao?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297180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dự án: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→ Hệ thống/AI → Kế toán viên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1371600"/>
            <a:ext cx="3584448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572768"/>
            <a:ext cx="420624" cy="420624"/>
          </a:xfrm>
          <a:prstGeom prst="ellipse">
            <a:avLst/>
          </a:prstGeom>
          <a:solidFill>
            <a:srgbClr val="128A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84464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33104" y="155448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quy trình (bước–công cụ)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84464" y="2194560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lời: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bước tự động nào được cấu hình, dữ liệu chảy qua đâu?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297180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dự án: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mẫu quy trình · sơ đồ trên màn hình duyệt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3584448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59936"/>
            <a:ext cx="420624" cy="420624"/>
          </a:xfrm>
          <a:prstGeom prst="ellipse">
            <a:avLst/>
          </a:prstGeom>
          <a:solidFill>
            <a:srgbClr val="2F5D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04164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trạng thái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681728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lời: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đối tượng đi qua những trạng thái nào, chuyển được sang đâu?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458968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dự án: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trạng thái của lần chạy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79392" y="3858768"/>
            <a:ext cx="3584448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2272" y="4059936"/>
            <a:ext cx="420624" cy="42062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62272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010912" y="404164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tuần tự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462272" y="4681728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lời: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thành phần gọi nhau theo thứ tự thời gian như thế nào?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462272" y="5458968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dự án: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thủ công · đăng nhập · đổi mô hình AI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01584" y="3858768"/>
            <a:ext cx="3584448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84464" y="4059936"/>
            <a:ext cx="420624" cy="420624"/>
          </a:xfrm>
          <a:prstGeom prst="ellipse">
            <a:avLst/>
          </a:prstGeom>
          <a:solidFill>
            <a:srgbClr val="6B72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84464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833104" y="404164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cấu trúc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284464" y="4681728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lời: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gồm những khối nào, nằm ở đâu, liên kết ra sao?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84464" y="5458968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dự án: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· 22 bảng dữ liệu · triển khai Docker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 nào dùng sơ đồ nào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chọn nằm ở cột cuối — áp dụng được cho chức năng mới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83464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Chức năng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sơ đồ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Vì sao chọn loại này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 nghiệp vụ trong một ngày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swimlane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vai trò trao việc cho nhau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mẫu quy trình của nhân viên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bước–công cụ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Chuỗi công cụ cố định, nhánh đạt/không đạt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– 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nhân viên AI (biên dịch mô tả)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đồ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điều kiện hợp lệ/không, vòng thử lại ≤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thi một lần chạy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đồ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Rẽ nhánh QC, lỗi tạm thời, thử lại, chạy tiếp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Vòng đời lần chạy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Sơ đồ trạng thái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đối tượng, 8 trạng thái, phép chuyển hợp lệ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nhận thủ công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Sơ đồ tuần tự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– giao diện – API – CSDL – worker theo thời gian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nhập · đổi mô hình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Sơ đồ tuần tự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Trao đổi token; API gọi máy chủ mô hình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– 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 trúc hệ thống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Sơ đồ cấu trúc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Khối tĩnh và kết nối, không có thứ tự thời gian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869680" y="1325880"/>
            <a:ext cx="2880360" cy="4114800"/>
          </a:xfrm>
          <a:prstGeom prst="rect">
            <a:avLst/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05256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chọn nhanh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192024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câu hỏi Có/Không, vòng lặp → </a:t>
            </a:r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đồ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người/bộ phận → </a:t>
            </a:r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swimlane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bước máy tự làm → </a:t>
            </a:r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bước–công cụ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đối tượng đổi trạng thái → </a:t>
            </a:r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trạng thái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hệ thống gọi nhau → </a:t>
            </a:r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tuần tự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nghiệp vụ theo vai trò (swimlane)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từ trái sang phải; mỗi làn là một vai trò — mũi tên đi xuống/lên là trao việc giữa các vai trò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1292840" cy="1572768"/>
          </a:xfrm>
          <a:prstGeom prst="rect">
            <a:avLst/>
          </a:prstGeom>
          <a:solidFill>
            <a:srgbClr val="FBF6EC"/>
          </a:solidFill>
          <a:ln w="9525">
            <a:solidFill>
              <a:srgbClr val="D6D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868680" cy="1572768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325880"/>
            <a:ext cx="868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92840" cy="1572768"/>
          </a:xfrm>
          <a:prstGeom prst="rect">
            <a:avLst/>
          </a:prstGeom>
          <a:solidFill>
            <a:srgbClr val="EEF3FA"/>
          </a:solidFill>
          <a:ln w="9525">
            <a:solidFill>
              <a:srgbClr val="D6DB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71800"/>
            <a:ext cx="868680" cy="1572768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71800"/>
            <a:ext cx="868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+ 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11292840" cy="1572768"/>
          </a:xfrm>
          <a:prstGeom prst="rect">
            <a:avLst/>
          </a:prstGeom>
          <a:solidFill>
            <a:srgbClr val="EEF8F2"/>
          </a:solidFill>
          <a:ln w="9525">
            <a:solidFill>
              <a:srgbClr val="D6D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617720"/>
            <a:ext cx="868680" cy="1572768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617720"/>
            <a:ext cx="868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VIÊN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508760" y="181051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54480" y="181051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Gõ mô tả công việc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tiếng Việt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26664" y="1627632"/>
            <a:ext cx="1188720" cy="969264"/>
          </a:xfrm>
          <a:prstGeom prst="diamond">
            <a:avLst/>
          </a:prstGeom>
          <a:solidFill>
            <a:srgbClr val="FFF7E6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6392" y="1627632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lệ?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181051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181051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sơ đồ,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và kích hoạt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287000" y="181051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32720" y="181051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kết quả,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tệp Excel, báo cáo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788920" y="1371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3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hợp lệ → sửa mô tả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08760" y="345643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54480" y="345643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dịch: chọn mẫu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điền tham số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71800" y="345643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17520" y="345643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V-1..V-5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345643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345643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giờ / có tệp mới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tạo lần chạy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97880" y="345643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0" y="345643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hoá đơn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(Qwen3-VL)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15784" y="3273552"/>
            <a:ext cx="1188720" cy="969264"/>
          </a:xfrm>
          <a:prstGeom prst="diamond">
            <a:avLst/>
          </a:prstGeom>
          <a:solidFill>
            <a:srgbClr val="EEF3FA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25512" y="3273552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quy tắc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823960" y="345643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69680" y="345643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Excel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báo cáo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87000" y="345643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32720" y="345643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tiếp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Đạt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60920" y="510235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06640" y="510235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Chờ xác nhận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78824" y="4919472"/>
            <a:ext cx="1188720" cy="969264"/>
          </a:xfrm>
          <a:prstGeom prst="diamond">
            <a:avLst/>
          </a:prstGeom>
          <a:solidFill>
            <a:srgbClr val="EEF8F2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88552" y="4919472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gốc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287000" y="5102352"/>
            <a:ext cx="12984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332720" y="5102352"/>
            <a:ext cx="120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/ Sửa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(QC chạy lại)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686800" y="5916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3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 đơn giả → Từ chối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57984" y="2414016"/>
            <a:ext cx="914" cy="104241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807208" y="3758184"/>
            <a:ext cx="16459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3621024" y="2596896"/>
            <a:ext cx="914" cy="85953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215384" y="2112264"/>
            <a:ext cx="219456" cy="914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4050792" y="18836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84064" y="2414016"/>
            <a:ext cx="914" cy="104241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733288" y="3758184"/>
            <a:ext cx="16459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196328" y="3758184"/>
            <a:ext cx="21945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604504" y="3758184"/>
            <a:ext cx="219456" cy="914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8439912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010144" y="4242816"/>
            <a:ext cx="914" cy="859536"/>
          </a:xfrm>
          <a:prstGeom prst="line">
            <a:avLst/>
          </a:prstGeom>
          <a:noFill/>
          <a:ln w="19050">
            <a:solidFill>
              <a:srgbClr val="B33520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8074152" y="4279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đạt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659368" y="5404104"/>
            <a:ext cx="21945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10067544" y="5404104"/>
            <a:ext cx="219456" cy="914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9902952" y="51755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 flipV="1">
            <a:off x="10936224" y="4059936"/>
            <a:ext cx="914" cy="104241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H="1">
            <a:off x="10122408" y="3758184"/>
            <a:ext cx="164592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V="1">
            <a:off x="9747504" y="2112264"/>
            <a:ext cx="914" cy="1344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747504" y="2112264"/>
            <a:ext cx="539496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Workflow: Đọc hoá đơn → nhập Excel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invoice_to_excel — mỗi ô là một công cụ, màu theo tác tử được phép gọi công cụ đó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4DA"/>
          </a:solidFill>
          <a:ln w="19050">
            <a:solidFill>
              <a:srgbClr val="A87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116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tệp mới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fs.list_new_files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0" y="20116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4DA"/>
          </a:solidFill>
          <a:ln w="19050">
            <a:solidFill>
              <a:srgbClr val="A874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0116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hoá đơn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vision.extract_invoice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0" y="1737360"/>
            <a:ext cx="2103120" cy="1508760"/>
          </a:xfrm>
          <a:prstGeom prst="diamond">
            <a:avLst/>
          </a:prstGeom>
          <a:solidFill>
            <a:srgbClr val="E8F5EE"/>
          </a:solidFill>
          <a:ln w="19050">
            <a:solidFill>
              <a:srgbClr val="128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1737360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quy tắc QC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qc.validate_invoice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1234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AF1FB"/>
          </a:solidFill>
          <a:ln w="19050">
            <a:solidFill>
              <a:srgbClr val="2F5D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12344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vào Excel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xlsx.append_rows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288036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DECE8"/>
          </a:solidFill>
          <a:ln w="19050">
            <a:solidFill>
              <a:srgbClr val="B335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8803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người xác nhận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qc.escalate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31720" y="2491740"/>
            <a:ext cx="4114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17720" y="2491740"/>
            <a:ext cx="41148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7132320" y="1714500"/>
            <a:ext cx="960120" cy="777240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040880" y="1417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32320" y="2491740"/>
            <a:ext cx="960120" cy="868680"/>
          </a:xfrm>
          <a:prstGeom prst="line">
            <a:avLst/>
          </a:prstGeom>
          <a:noFill/>
          <a:ln w="19050">
            <a:solidFill>
              <a:srgbClr val="B3352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040880" y="3063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chạy do sắp xếp tô-pô quyết định; mô hình AI không được thêm/bớt bước.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tử Tài liệu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4526280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E8F5EE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4612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tử Kiểm soát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4526280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2356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tử Dữ liệu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4526280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FDECE8"/>
          </a:solidFill>
          <a:ln w="15875">
            <a:solidFill>
              <a:srgbClr val="B3352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0100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người xác nhận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983480"/>
            <a:ext cx="3584448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" y="5074920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hoạt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0 8 * * * (08:00 hằng ngày), bấm “Chạy ngay”, hoặc có tệp mới trong thư mục.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279392" y="4983480"/>
            <a:ext cx="3584448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16552" y="5074920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chảy qua các bước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→ document_ids → passed / review document_ids → tệp Excel mới.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101584" y="4983480"/>
            <a:ext cx="3584448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38744" y="5074920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là workflow, không phải lưu đồ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cấu hình chuỗi công cụ người dùng duyệt và hệ thống lặp lại mỗi ngày — không mô tả logic bên trong từng bước.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của 4 mẫu còn lại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bộ 14 công cụ, ghép thành chuỗi khác nhau — thêm mẫu mới = thêm một tệp mô tả, không sửa bộ biên dịch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Đọc hoá đơn → báo cáo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17:30 hằng ngày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39903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39903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tệp mới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fs.list_new_files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53712" y="139903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139903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hoá đơn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vision.extract_invoice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9392" y="1773936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64224" y="1399032"/>
            <a:ext cx="1536192" cy="749808"/>
          </a:xfrm>
          <a:prstGeom prst="diamond">
            <a:avLst>
              <a:gd name="adj" fmla="val 7317"/>
            </a:avLst>
          </a:prstGeom>
          <a:solidFill>
            <a:srgbClr val="E8F5EE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47104" y="1399032"/>
            <a:ext cx="1170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quy tắc QC</a:t>
            </a:r>
            <a:endParaRPr lang="en-US" sz="105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qc.validate_invoice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773936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74736" y="139903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0456" y="139903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Excel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report.build_xlsx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0416" y="1773936"/>
            <a:ext cx="274320" cy="914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85248" y="139903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30968" y="139903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PDF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report.build_pdf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710928" y="1773936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364224" y="2148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3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→ qc.escalate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Làm sạch bảng tính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công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0" y="258775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258775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tệp mới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fs.list_new_files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53712" y="258775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99432" y="258775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các tệp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xlsx.merge_files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79392" y="2962656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64224" y="258775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9944" y="258775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xlsx.normalize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9904" y="2962656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74736" y="258775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0456" y="258775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dòng trùng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xlsx.dedupe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00416" y="2962656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57200" y="3703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Đối chiếu hai bảng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Hai 09:00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0" y="377647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88920" y="377647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theo cột khoá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xlsx.reconcile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92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Phân loại tài liệu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công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0" y="496519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88920" y="496519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tệp mới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fs.list_new_files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53712" y="496519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99432" y="496519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gán nhãn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vision.classify_document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79392" y="5340096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57200" y="6172200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8680" y="6153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tử Tài liệu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34640" y="6172200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E8F5EE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246120" y="6153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tử Kiểm soát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212080" y="6172200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23560" y="6153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tử Dữ liệu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89520" y="6172200"/>
            <a:ext cx="310896" cy="237744"/>
          </a:xfrm>
          <a:prstGeom prst="roundRect">
            <a:avLst>
              <a:gd name="adj" fmla="val 19231"/>
            </a:avLst>
          </a:prstGeom>
          <a:solidFill>
            <a:srgbClr val="FDECE8"/>
          </a:solidFill>
          <a:ln w="15875">
            <a:solidFill>
              <a:srgbClr val="B3352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01000" y="6153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người xác nhận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đồ: tạo nhân viên AI (biên dịch mô tả)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lưu đồ vì có quyết định Có/Không và vòng thử lại tối đa 3 lần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đồ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97380"/>
            <a:ext cx="914400" cy="502920"/>
          </a:xfrm>
          <a:prstGeom prst="roundRect">
            <a:avLst>
              <a:gd name="adj" fmla="val 50000"/>
            </a:avLst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973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00200" y="1819656"/>
            <a:ext cx="1463040" cy="658368"/>
          </a:xfrm>
          <a:prstGeom prst="parallelogram">
            <a:avLst/>
          </a:prstGeom>
          <a:solidFill>
            <a:srgbClr val="F3F0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181965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mô tả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819656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loại: chọn 1/5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(JSON Schema)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1636776"/>
            <a:ext cx="1234440" cy="1024128"/>
          </a:xfrm>
          <a:prstGeom prst="diamond">
            <a:avLst/>
          </a:prstGeom>
          <a:solidFill>
            <a:srgbClr val="FFF7E6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1636776"/>
            <a:ext cx="1014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1819656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tham số vào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khung của mẫu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636776"/>
            <a:ext cx="1325880" cy="1024128"/>
          </a:xfrm>
          <a:prstGeom prst="diamond">
            <a:avLst/>
          </a:prstGeom>
          <a:solidFill>
            <a:srgbClr val="FFF7E6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0768" y="1636776"/>
            <a:ext cx="1106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V-1..V-5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lệ?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21240" y="1819656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128A52"/>
          </a:solidFill>
          <a:ln w="12700">
            <a:solidFill>
              <a:srgbClr val="128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0" y="181965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bản nháp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duyệt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465576"/>
            <a:ext cx="1874520" cy="658368"/>
          </a:xfrm>
          <a:prstGeom prst="roundRect">
            <a:avLst>
              <a:gd name="adj" fmla="val 50000"/>
            </a:avLst>
          </a:prstGeom>
          <a:solidFill>
            <a:srgbClr val="B33520"/>
          </a:solidFill>
          <a:ln w="12700">
            <a:solidFill>
              <a:srgbClr val="B3352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46557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Báo: hãy mô tả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 thể hơn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3465576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346557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lại kèm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lỗi cụ thể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3282696"/>
            <a:ext cx="1325880" cy="1024128"/>
          </a:xfrm>
          <a:prstGeom prst="diamond">
            <a:avLst/>
          </a:prstGeom>
          <a:solidFill>
            <a:srgbClr val="FFF7E6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30768" y="3282696"/>
            <a:ext cx="1106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lượt?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(tối đa 3)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21240" y="3465576"/>
            <a:ext cx="1783080" cy="658368"/>
          </a:xfrm>
          <a:prstGeom prst="roundRect">
            <a:avLst>
              <a:gd name="adj" fmla="val 50000"/>
            </a:avLst>
          </a:prstGeom>
          <a:solidFill>
            <a:srgbClr val="B33520"/>
          </a:solidFill>
          <a:ln w="12700">
            <a:solidFill>
              <a:srgbClr val="B3352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1240" y="3465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— không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nhân viên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371600" y="2148840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17520" y="2148840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46320" y="2148840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309360" y="2148840"/>
            <a:ext cx="228600" cy="914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336792" y="19110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92440" y="2148840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46920" y="2148840"/>
            <a:ext cx="274320" cy="914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9674352" y="19110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92140" y="2660904"/>
            <a:ext cx="914" cy="804672"/>
          </a:xfrm>
          <a:prstGeom prst="line">
            <a:avLst/>
          </a:prstGeom>
          <a:noFill/>
          <a:ln w="19050">
            <a:solidFill>
              <a:srgbClr val="B3352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760720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983980" y="2660904"/>
            <a:ext cx="914" cy="621792"/>
          </a:xfrm>
          <a:prstGeom prst="line">
            <a:avLst/>
          </a:prstGeom>
          <a:noFill/>
          <a:ln w="19050">
            <a:solidFill>
              <a:srgbClr val="B3352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9052560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flipH="1">
            <a:off x="8092440" y="3794760"/>
            <a:ext cx="228600" cy="914"/>
          </a:xfrm>
          <a:prstGeom prst="line">
            <a:avLst/>
          </a:prstGeom>
          <a:noFill/>
          <a:ln w="19050">
            <a:solidFill>
              <a:srgbClr val="A87414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8110728" y="35387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V="1">
            <a:off x="7315200" y="2478024"/>
            <a:ext cx="914" cy="987552"/>
          </a:xfrm>
          <a:prstGeom prst="line">
            <a:avLst/>
          </a:prstGeom>
          <a:noFill/>
          <a:ln w="19050">
            <a:solidFill>
              <a:srgbClr val="A8741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646920" y="3794760"/>
            <a:ext cx="274320" cy="914"/>
          </a:xfrm>
          <a:prstGeom prst="line">
            <a:avLst/>
          </a:prstGeom>
          <a:noFill/>
          <a:ln w="19050">
            <a:solidFill>
              <a:srgbClr val="B33520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9665208" y="35570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06440" y="4636008"/>
            <a:ext cx="329184" cy="219456"/>
          </a:xfrm>
          <a:prstGeom prst="roundRect">
            <a:avLst>
              <a:gd name="adj" fmla="val 50000"/>
            </a:avLst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90488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/ kết thúc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87768" y="4636008"/>
            <a:ext cx="329184" cy="219456"/>
          </a:xfrm>
          <a:prstGeom prst="parallelogram">
            <a:avLst>
              <a:gd name="adj" fmla="val 16667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671816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liệu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769096" y="4636008"/>
            <a:ext cx="32918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BE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153144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250424" y="4636008"/>
            <a:ext cx="329184" cy="219456"/>
          </a:xfrm>
          <a:prstGeom prst="diamond">
            <a:avLst>
              <a:gd name="adj" fmla="val 16667"/>
            </a:avLst>
          </a:prstGeom>
          <a:solidFill>
            <a:srgbClr val="FFF7E6"/>
          </a:solidFill>
          <a:ln w="12700">
            <a:solidFill>
              <a:srgbClr val="A8741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634472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5029200"/>
            <a:ext cx="260604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4360" y="510235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chỉ được chọn 1 trong 5 mã mẫu — JSON Schema chặn mọi giá trị khác.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337560" y="5029200"/>
            <a:ext cx="260604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474720" y="510235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tham số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điền lịch, thư mục, tệp vào bộ khung cố định; không tự thêm bước.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217920" y="5029200"/>
            <a:ext cx="260604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55080" y="510235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V-1 công cụ tồn tại · V-2 khoá bước · V-3 không chu trình · V-4 dữ liệu khớp · V-5 lịch, tham số.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098280" y="5029200"/>
            <a:ext cx="260604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35440" y="510235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thử lại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cụ thể được gửi lại cho mô hình; tối đa 3 lần rồi dừng, không tạo nhân viên nửa vời.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đồ: thực thi một lần chạy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lưu đồ vì có rẽ nhánh đạt/không đạt và vòng chạy tiếp sau khi người xác nhận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đồ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1417320" cy="658368"/>
          </a:xfrm>
          <a:prstGeom prst="roundRect">
            <a:avLst>
              <a:gd name="adj" fmla="val 50000"/>
            </a:avLst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8249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hoạt: tay ·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· tệp mới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1682496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168249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lần chạy + việc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(cùng 1 giao dịch)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1682496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168249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giành việc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(BEGIN IMMEDIATE)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682496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15000" y="168249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tệp mới,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tệp đang ghi dở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1682496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FF4DA"/>
          </a:solidFill>
          <a:ln w="15875">
            <a:solidFill>
              <a:srgbClr val="A874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168249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từng hoá đơn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(trùng SHA-256 bỏ qua)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1485900"/>
            <a:ext cx="1280160" cy="1051560"/>
          </a:xfrm>
          <a:prstGeom prst="diamond">
            <a:avLst/>
          </a:prstGeom>
          <a:solidFill>
            <a:srgbClr val="E8F5EE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90888" y="1485900"/>
            <a:ext cx="1060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quy tắc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đạt?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44200" y="1682496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DECE8"/>
          </a:solidFill>
          <a:ln w="15875">
            <a:solidFill>
              <a:srgbClr val="B335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89920" y="168249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hàng chờ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16568" y="3099816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62288" y="30998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Excel / báo cáo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(tệp MỚI)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3099816"/>
            <a:ext cx="2103120" cy="658368"/>
          </a:xfrm>
          <a:prstGeom prst="roundRect">
            <a:avLst>
              <a:gd name="adj" fmla="val 50000"/>
            </a:avLst>
          </a:prstGeom>
          <a:solidFill>
            <a:srgbClr val="128A52"/>
          </a:solidFill>
          <a:ln w="12700">
            <a:solidFill>
              <a:srgbClr val="128A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30998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 — không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chứng từ chờ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744200" y="3099816"/>
            <a:ext cx="1005840" cy="658368"/>
          </a:xfrm>
          <a:prstGeom prst="roundRect">
            <a:avLst>
              <a:gd name="adj" fmla="val 50000"/>
            </a:avLst>
          </a:prstGeom>
          <a:solidFill>
            <a:srgbClr val="B33520"/>
          </a:solidFill>
          <a:ln w="12700">
            <a:solidFill>
              <a:srgbClr val="B3352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744200" y="309981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149840" y="4288536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28A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95560" y="428853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duyệt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/ từ chối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4288536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F5D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0" y="42885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 cuối → quay lại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đợi, chỉ chạy nhánh Đạt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2011680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657600" y="2011680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40680" y="2011680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223760" y="2011680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052560" y="2011680"/>
            <a:ext cx="2286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561320" y="2011680"/>
            <a:ext cx="182880" cy="914"/>
          </a:xfrm>
          <a:prstGeom prst="line">
            <a:avLst/>
          </a:prstGeom>
          <a:noFill/>
          <a:ln w="19050">
            <a:solidFill>
              <a:srgbClr val="B33520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10515600" y="1444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921240" y="2537460"/>
            <a:ext cx="914" cy="562356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9994392" y="25557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 flipH="1">
            <a:off x="8823960" y="3429000"/>
            <a:ext cx="292608" cy="914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1247120" y="2340864"/>
            <a:ext cx="914" cy="758952"/>
          </a:xfrm>
          <a:prstGeom prst="line">
            <a:avLst/>
          </a:prstGeom>
          <a:noFill/>
          <a:ln w="19050">
            <a:solidFill>
              <a:srgbClr val="B3352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1247120" y="3758184"/>
            <a:ext cx="914" cy="530352"/>
          </a:xfrm>
          <a:prstGeom prst="line">
            <a:avLst/>
          </a:prstGeom>
          <a:noFill/>
          <a:ln w="19050">
            <a:solidFill>
              <a:srgbClr val="B3352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9784080" y="4617720"/>
            <a:ext cx="365760" cy="914"/>
          </a:xfrm>
          <a:prstGeom prst="line">
            <a:avLst/>
          </a:prstGeom>
          <a:noFill/>
          <a:ln w="19050">
            <a:solidFill>
              <a:srgbClr val="128A5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8503920" y="3931920"/>
            <a:ext cx="914" cy="356616"/>
          </a:xfrm>
          <a:prstGeom prst="line">
            <a:avLst/>
          </a:prstGeom>
          <a:noFill/>
          <a:ln w="19050">
            <a:solidFill>
              <a:srgbClr val="2F5D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3931920"/>
            <a:ext cx="1005840" cy="914"/>
          </a:xfrm>
          <a:prstGeom prst="line">
            <a:avLst/>
          </a:prstGeom>
          <a:noFill/>
          <a:ln w="19050">
            <a:solidFill>
              <a:srgbClr val="2F5D9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509760" y="3758184"/>
            <a:ext cx="914" cy="173736"/>
          </a:xfrm>
          <a:prstGeom prst="line">
            <a:avLst/>
          </a:prstGeom>
          <a:noFill/>
          <a:ln w="19050">
            <a:solidFill>
              <a:srgbClr val="2F5D9E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806440" y="5157216"/>
            <a:ext cx="329184" cy="219456"/>
          </a:xfrm>
          <a:prstGeom prst="roundRect">
            <a:avLst>
              <a:gd name="adj" fmla="val 50000"/>
            </a:avLst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90488" y="5138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/ kết thúc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87768" y="5157216"/>
            <a:ext cx="329184" cy="219456"/>
          </a:xfrm>
          <a:prstGeom prst="parallelogram">
            <a:avLst>
              <a:gd name="adj" fmla="val 16667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71816" y="5138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liệu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769096" y="5157216"/>
            <a:ext cx="329184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BE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153144" y="5138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250424" y="5157216"/>
            <a:ext cx="329184" cy="219456"/>
          </a:xfrm>
          <a:prstGeom prst="diamond">
            <a:avLst>
              <a:gd name="adj" fmla="val 16667"/>
            </a:avLst>
          </a:prstGeom>
          <a:solidFill>
            <a:srgbClr val="FFF7E6"/>
          </a:solidFill>
          <a:ln w="12700">
            <a:solidFill>
              <a:srgbClr val="A8741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634472" y="5138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3108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Đạt chạy ngay cho chứng từ tốt — không bắt chứng từ tốt chờ chứng từ lỗi.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3703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tạm thời (mô hình quá tải, CSDL bận): thử lại tại chỗ → RETRYING, chờ 30 giây → 15 phút → hết lượt thì FAILED.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5486400"/>
            <a:ext cx="26060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94360" y="5559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hoạt → xếp hàng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chạy và việc ghi trong CÙNG một giao dịch — không bao giờ lệch nhau.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337560" y="5486400"/>
            <a:ext cx="26060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474720" y="5559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tử Tài liệu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tệp đang ghi dở; ảnh trùng mã SHA-256 không gọi lại mô hình.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217920" y="5486400"/>
            <a:ext cx="26060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355080" y="5559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rẽ nhánh QC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→ ghi Excel; không đạt → hàng chờ, lần chạy dừng ở NEEDS_REVIEW.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098280" y="5486400"/>
            <a:ext cx="26060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235440" y="5559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tiếp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 cuối cùng được xử lý → lần chạy quay lại hàng đợi, chỉ chạy nhánh Đạt (bước 18).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trạng thái: vòng đời một lần chạy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đối tượng — 8 trạng thái — chỉ đổi qua domain/state.py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trạng thái</a:t>
            </a:r>
            <a:endParaRPr lang="en-US" sz="1200" dirty="0"/>
          </a:p>
        </p:txBody>
      </p:sp>
      <p:pic>
        <p:nvPicPr>
          <p:cNvPr id="8" name="Image 0" descr="/tmp/claude-0/-home-user-sme-ai-workforce/504e5016-5b7b-57fe-bfb9-07cbeaa94f26/scratchpad/guide/st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481821" cy="4983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50501" y="1371600"/>
            <a:ext cx="33995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claimed → running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lần chạy, worker giành việc, bắt đầu chạy.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350501" y="2359152"/>
            <a:ext cx="33995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→ needs_review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chứng từ không đạt QC — chờ người.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350501" y="3346704"/>
            <a:ext cx="33995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 → retrying → pending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duyệt xong — chạy tiếp nhánh Đạt (bước 18).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350501" y="4334256"/>
            <a:ext cx="33995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→ retrying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tạm thời (mô hình quá tải, CSDL bận).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350501" y="5321808"/>
            <a:ext cx="33995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 · failed · cancelled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cuối: không quay lại; chạy lại = tạo lần chạy mới.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tuần tự: xác nhận thủ công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sơ đồ tuần tự vì có nhiều thành phần gọi nhau theo thời gian: người → giao diện → API → CSDL → worker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tuần tự</a:t>
            </a:r>
            <a:endParaRPr lang="en-US" sz="1200" dirty="0"/>
          </a:p>
        </p:txBody>
      </p:sp>
      <p:pic>
        <p:nvPicPr>
          <p:cNvPr id="8" name="Image 0" descr="/tmp/claude-0/-home-user-sme-ai-workforce/504e5016-5b7b-57fe-bfb9-07cbeaa94f26/scratchpad/guide/seq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280160"/>
            <a:ext cx="11247120" cy="351338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022146"/>
            <a:ext cx="3566160" cy="133293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5113586"/>
            <a:ext cx="3291840" cy="115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nhật ký trước/sau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human_reviews + audit_logs; sửa số liệu tạo bản trích xuất MỚI, bản cũ giữ lại.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5022146"/>
            <a:ext cx="3566160" cy="133293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34840" y="5113586"/>
            <a:ext cx="3291840" cy="115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“alt”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khi là chứng từ cuối cùng của lần chạy mới đưa lần chạy về hàng đợi.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38160" y="5022146"/>
            <a:ext cx="3566160" cy="133293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5113586"/>
            <a:ext cx="3291840" cy="115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giao diện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chính là bước 12 – 13 – 18 ở phần hướng dẫn.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tuần tự: đăng nhập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token giữa trình duyệt và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tuần tự</a:t>
            </a:r>
            <a:endParaRPr lang="en-US" sz="1200" dirty="0"/>
          </a:p>
        </p:txBody>
      </p:sp>
      <p:pic>
        <p:nvPicPr>
          <p:cNvPr id="8" name="Image 0" descr="/tmp/claude-0/-home-user-sme-ai-workforce/504e5016-5b7b-57fe-bfb9-07cbeaa94f26/scratchpad/guide/seq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823401" cy="4846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92081" y="1371600"/>
            <a:ext cx="505795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15 phút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trong bộ nhớ trình duyệt, không lưu localStorage — chống đánh cắp qua mã độc (XSS).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692081" y="2377440"/>
            <a:ext cx="505795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7 ngày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mà JavaScript không đọc được; mỗi lần làm mới đổi token mới, token cũ bị thu hồi.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692081" y="3383280"/>
            <a:ext cx="505795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 hạn giữa phiên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401 → tự gọi /auth/refresh → gửi lại yêu cầu; người dùng không thấy gián đoạn.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692081" y="4389120"/>
            <a:ext cx="505795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xuất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hồi refresh token, xoá cookie. Đổi mật khẩu/khoá tài khoản thu hồi mọi phiên.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tuần tự: đổi mô hình AI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mới ở bước 16 — thử trước khi lưu, lưu xong có hiệu lực ngay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tuần tự</a:t>
            </a:r>
            <a:endParaRPr lang="en-US" sz="1200" dirty="0"/>
          </a:p>
        </p:txBody>
      </p:sp>
      <p:pic>
        <p:nvPicPr>
          <p:cNvPr id="8" name="Image 0" descr="/tmp/claude-0/-home-user-sme-ai-workforce/504e5016-5b7b-57fe-bfb9-07cbeaa94f26/scratchpad/guide/seq_l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077" y="1280160"/>
            <a:ext cx="9023541" cy="3977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486400"/>
            <a:ext cx="356616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5577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trước khi lưu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danh sách model và thử kết nối bằng giá trị đang nhập.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5486400"/>
            <a:ext cx="356616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34840" y="5577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an toàn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API mã hoá Fernet; nhật ký kiểm toán không chứa khoá.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38160" y="5486400"/>
            <a:ext cx="356616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5577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khởi động lại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dùng ngay; worker đọc lại cấu hình trong ≤ 10 giây.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AI Workforce · Hướng dẫn sử dụng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cấu trúc: kiến trúc hệ thống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thứ tự thời gian — chỉ khối và kết nối, nên dùng sơ đồ cấu trúc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6404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6EBD4"/>
          </a:solidFill>
          <a:ln w="12700">
            <a:solidFill>
              <a:srgbClr val="F6E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6404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cấu trúc</a:t>
            </a:r>
            <a:endParaRPr lang="en-US" sz="1200" dirty="0"/>
          </a:p>
        </p:txBody>
      </p:sp>
      <p:pic>
        <p:nvPicPr>
          <p:cNvPr id="8" name="Image 0" descr="/tmp/claude-0/-home-user-sme-ai-workforce/504e5016-5b7b-57fe-bfb9-07cbeaa94f26/scratchpad/guide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18" y="1325880"/>
            <a:ext cx="1069745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chạy thử trên dữ liệu demo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B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9280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chụp từ hệ thống chạy thật: API + worker + máy chủ mô hình tương thích OpenAI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B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89864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 đơn chạy trọn luồng: 3 đạt ghi Excel, 1 chờ xác nhận, duyệt xong tự chạy tiếp → HOÀN TẤT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B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90448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thao tác đúng phân quyền: Quản lý, Kế toán viên, Quản trị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B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491032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sơ đồ, mỗi loại dùng đúng chỗ: lưu đồ, 2 kiểu workflow, trạng thái, tuần tự, cấu trúc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Tự chạy lại: make seed → make dev-api → make worker → VITE_USE_MOCK=false make dev-web → http://localhost:5173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sử dụng SME AI Workforce</dc:title>
  <dc:subject>PptxGenJS Presentation</dc:subject>
  <dc:creator>PptxGenJS</dc:creator>
  <cp:lastModifiedBy>PptxGenJS</cp:lastModifiedBy>
  <cp:revision>1</cp:revision>
  <dcterms:created xsi:type="dcterms:W3CDTF">2026-09-25T05:17:37Z</dcterms:created>
  <dcterms:modified xsi:type="dcterms:W3CDTF">2026-09-25T05:17:37Z</dcterms:modified>
</cp:coreProperties>
</file>